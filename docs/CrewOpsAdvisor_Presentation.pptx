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CREW OPS ADVISOR · DCORTEX AIR, HUB BLR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CF1F9"/>
                </a:solidFill>
                <a:latin typeface="Segoe UI"/>
              </a:rPr>
              <a:t>An advisor that a controller can actually trust at 6 a.m.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The model classifies and writes prose. Deterministic code computes every number, verdict, cost and ranking — and checks the model's own words before a controller sees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55680" cy="15240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CF1F9"/>
                </a:solidFill>
                <a:latin typeface="Consolas"/>
              </a:rPr>
              <a:t>FIVE THINGS THAT ARE EASY TO SKIP — AND WHAT A JUDGE WILL ASK IF YOU DO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72491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670048"/>
            <a:ext cx="3026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ECF1F9"/>
                </a:solidFill>
                <a:latin typeface="Segoe UI"/>
              </a:rPr>
              <a:t>Not tuned to the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670048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Rules read live from rules.json, not copied from the answer key. Regenerates and re-checks on unseen seeds.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651760"/>
            <a:ext cx="3200400" cy="566928"/>
          </a:xfrm>
          <a:prstGeom prst="roundRect">
            <a:avLst>
              <a:gd name="adj" fmla="val 18000"/>
            </a:avLst>
          </a:prstGeom>
          <a:solidFill>
            <a:srgbClr val="12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7249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F6D87"/>
                </a:solidFill>
                <a:latin typeface="Segoe UI"/>
              </a:rPr>
              <a:t>“Did you just hard-code the demo?”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19272"/>
            <a:ext cx="111556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2920" y="345643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3401568"/>
            <a:ext cx="3026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ECF1F9"/>
                </a:solidFill>
                <a:latin typeface="Segoe UI"/>
              </a:rPr>
              <a:t>A confidence signal, not just a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01568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A second suite sends real English through the live agent (94.7%) — not only code calling code (100% by construction).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383280"/>
            <a:ext cx="3200400" cy="566928"/>
          </a:xfrm>
          <a:prstGeom prst="roundRect">
            <a:avLst>
              <a:gd name="adj" fmla="val 18000"/>
            </a:avLst>
          </a:prstGeom>
          <a:solidFill>
            <a:srgbClr val="12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04504" y="345643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F6D87"/>
                </a:solidFill>
                <a:latin typeface="Segoe UI"/>
              </a:rPr>
              <a:t>“Is that 100% real, or rigged to pass?”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50792"/>
            <a:ext cx="111556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4187952"/>
            <a:ext cx="100584" cy="1005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4133088"/>
            <a:ext cx="3026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ECF1F9"/>
                </a:solidFill>
                <a:latin typeface="Segoe UI"/>
              </a:rPr>
              <a:t>Says “I'm not sure” out 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133088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Policy calls and compound disruptions are declined with a reason and a next step — never a confident guess.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114800"/>
            <a:ext cx="3200400" cy="566928"/>
          </a:xfrm>
          <a:prstGeom prst="roundRect">
            <a:avLst>
              <a:gd name="adj" fmla="val 18000"/>
            </a:avLst>
          </a:prstGeom>
          <a:solidFill>
            <a:srgbClr val="12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04504" y="41879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F6D87"/>
                </a:solidFill>
                <a:latin typeface="Segoe UI"/>
              </a:rPr>
              <a:t>“What happens when it doesn't know?”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82312"/>
            <a:ext cx="111556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2920" y="49194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4864608"/>
            <a:ext cx="3026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ECF1F9"/>
                </a:solidFill>
                <a:latin typeface="Segoe UI"/>
              </a:rPr>
              <a:t>Explainable by construction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864608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Every legality verdict carries the rule id and the exact arithmetic — not a model's paraphrase of 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4846320"/>
            <a:ext cx="3200400" cy="566928"/>
          </a:xfrm>
          <a:prstGeom prst="roundRect">
            <a:avLst>
              <a:gd name="adj" fmla="val 18000"/>
            </a:avLst>
          </a:prstGeom>
          <a:solidFill>
            <a:srgbClr val="12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04504" y="491947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F6D87"/>
                </a:solidFill>
                <a:latin typeface="Segoe UI"/>
              </a:rPr>
              <a:t>“Can I trust the number, or just the sentence?”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13832"/>
            <a:ext cx="111556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920" y="5650992"/>
            <a:ext cx="100584" cy="100584"/>
          </a:xfrm>
          <a:prstGeom prst="ellipse">
            <a:avLst/>
          </a:prstGeom>
          <a:solidFill>
            <a:srgbClr val="8B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" y="5596128"/>
            <a:ext cx="3026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ECF1F9"/>
                </a:solidFill>
                <a:latin typeface="Segoe UI"/>
              </a:rPr>
              <a:t>Traced end to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596128"/>
            <a:ext cx="4434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Every tool call, fact and rule evaluation is logged, and one run can be replayed and diffed byte for byte.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58200" y="5577840"/>
            <a:ext cx="3200400" cy="566928"/>
          </a:xfrm>
          <a:prstGeom prst="roundRect">
            <a:avLst>
              <a:gd name="adj" fmla="val 18000"/>
            </a:avLst>
          </a:prstGeom>
          <a:solidFill>
            <a:srgbClr val="12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04504" y="565099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F6D87"/>
                </a:solidFill>
                <a:latin typeface="Segoe UI"/>
              </a:rPr>
              <a:t>“Can I audit what it actually did?”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8DC2-6F1A-B75B-6C26-BCCB76CE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0974A3-95CA-4FEA-4071-87941C0EA96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B596C-2B9F-67DE-FF5D-464E4A70A917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12918-7491-0DB9-F989-5643FB617FAE}"/>
              </a:ext>
            </a:extLst>
          </p:cNvPr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CREW OPS ADVISOR · DCORTEX AIR, HUB BLR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3C685-4C98-FDF2-EDE1-766F4AFEFE88}"/>
              </a:ext>
            </a:extLst>
          </p:cNvPr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983867-26B0-213B-33A0-4CECDA7DD5CE}"/>
              </a:ext>
            </a:extLst>
          </p:cNvPr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1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E06338C-DFF4-2EC7-C8FB-4EFB26DF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479" y="824265"/>
            <a:ext cx="8017041" cy="553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4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CF1F9"/>
                </a:solidFill>
                <a:latin typeface="Segoe UI"/>
              </a:rPr>
              <a:t>The full pipeline — LangGraph nodes, decisions and the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28016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435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LLM step</a:t>
            </a:r>
          </a:p>
        </p:txBody>
      </p:sp>
      <p:sp>
        <p:nvSpPr>
          <p:cNvPr id="9" name="Oval 8"/>
          <p:cNvSpPr/>
          <p:nvPr/>
        </p:nvSpPr>
        <p:spPr>
          <a:xfrm>
            <a:off x="1505102" y="1280160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0550" y="12435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Deterministic (app.core)</a:t>
            </a:r>
          </a:p>
        </p:txBody>
      </p:sp>
      <p:sp>
        <p:nvSpPr>
          <p:cNvPr id="11" name="Oval 10"/>
          <p:cNvSpPr/>
          <p:nvPr/>
        </p:nvSpPr>
        <p:spPr>
          <a:xfrm>
            <a:off x="3560673" y="1280160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6121" y="12435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Decision / gate</a:t>
            </a:r>
          </a:p>
        </p:txBody>
      </p:sp>
      <p:sp>
        <p:nvSpPr>
          <p:cNvPr id="13" name="Oval 12"/>
          <p:cNvSpPr/>
          <p:nvPr/>
        </p:nvSpPr>
        <p:spPr>
          <a:xfrm>
            <a:off x="5023712" y="1280160"/>
            <a:ext cx="100584" cy="1005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9160" y="12435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Abstain / clarify</a:t>
            </a:r>
          </a:p>
        </p:txBody>
      </p:sp>
      <p:sp>
        <p:nvSpPr>
          <p:cNvPr id="15" name="Oval 14"/>
          <p:cNvSpPr/>
          <p:nvPr/>
        </p:nvSpPr>
        <p:spPr>
          <a:xfrm>
            <a:off x="6618425" y="1280160"/>
            <a:ext cx="100584" cy="10058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73873" y="12435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Downgrade</a:t>
            </a:r>
          </a:p>
        </p:txBody>
      </p:sp>
      <p:sp>
        <p:nvSpPr>
          <p:cNvPr id="17" name="Process 16"/>
          <p:cNvSpPr/>
          <p:nvPr/>
        </p:nvSpPr>
        <p:spPr>
          <a:xfrm>
            <a:off x="457200" y="1572768"/>
            <a:ext cx="1143000" cy="658368"/>
          </a:xfrm>
          <a:prstGeom prst="flowChartProcess">
            <a:avLst/>
          </a:prstGeom>
          <a:solidFill>
            <a:srgbClr val="1A2236"/>
          </a:solidFill>
          <a:ln w="17780">
            <a:solidFill>
              <a:srgbClr val="EC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ECF1F9"/>
                </a:solidFill>
                <a:latin typeface="Consolas"/>
              </a:rPr>
              <a:t>INGEST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normalise the question</a:t>
            </a:r>
          </a:p>
        </p:txBody>
      </p:sp>
      <p:sp>
        <p:nvSpPr>
          <p:cNvPr id="18" name="Process 17"/>
          <p:cNvSpPr/>
          <p:nvPr/>
        </p:nvSpPr>
        <p:spPr>
          <a:xfrm>
            <a:off x="1783080" y="1572768"/>
            <a:ext cx="1417320" cy="658368"/>
          </a:xfrm>
          <a:prstGeom prst="flowChartProcess">
            <a:avLst/>
          </a:prstGeom>
          <a:solidFill>
            <a:srgbClr val="0B3A42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50" b="1">
                <a:solidFill>
                  <a:srgbClr val="ECF1F9"/>
                </a:solidFill>
                <a:latin typeface="Consolas"/>
              </a:rPr>
              <a:t>CLASSIFY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LLM proposes an intent</a:t>
            </a:r>
          </a:p>
        </p:txBody>
      </p:sp>
      <p:sp>
        <p:nvSpPr>
          <p:cNvPr id="19" name="Process 18"/>
          <p:cNvSpPr/>
          <p:nvPr/>
        </p:nvSpPr>
        <p:spPr>
          <a:xfrm>
            <a:off x="3383280" y="1572768"/>
            <a:ext cx="1417320" cy="658368"/>
          </a:xfrm>
          <a:prstGeom prst="flowChartProcess">
            <a:avLst/>
          </a:prstGeom>
          <a:solidFill>
            <a:srgbClr val="142A22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50" b="1">
                <a:solidFill>
                  <a:srgbClr val="ECF1F9"/>
                </a:solidFill>
                <a:latin typeface="Consolas"/>
              </a:rPr>
              <a:t>RESOLVE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code validates every id</a:t>
            </a:r>
          </a:p>
        </p:txBody>
      </p:sp>
      <p:sp>
        <p:nvSpPr>
          <p:cNvPr id="20" name="Decision 19"/>
          <p:cNvSpPr/>
          <p:nvPr/>
        </p:nvSpPr>
        <p:spPr>
          <a:xfrm>
            <a:off x="4983480" y="1344168"/>
            <a:ext cx="1508760" cy="1115568"/>
          </a:xfrm>
          <a:prstGeom prst="flowChartDecision">
            <a:avLst/>
          </a:prstGeom>
          <a:solidFill>
            <a:srgbClr val="1A2236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ECF1F9"/>
                </a:solidFill>
                <a:latin typeface="Consolas"/>
              </a:rPr>
              <a:t>ROUTE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plan exists?</a:t>
            </a:r>
          </a:p>
        </p:txBody>
      </p:sp>
      <p:sp>
        <p:nvSpPr>
          <p:cNvPr id="21" name="Process 20"/>
          <p:cNvSpPr/>
          <p:nvPr/>
        </p:nvSpPr>
        <p:spPr>
          <a:xfrm>
            <a:off x="6675120" y="1572768"/>
            <a:ext cx="1143000" cy="658368"/>
          </a:xfrm>
          <a:prstGeom prst="flowChartProcess">
            <a:avLst/>
          </a:prstGeom>
          <a:solidFill>
            <a:srgbClr val="1A2236"/>
          </a:solidFill>
          <a:ln w="17780">
            <a:solidFill>
              <a:srgbClr val="ECF1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ECF1F9"/>
                </a:solidFill>
                <a:latin typeface="Consolas"/>
              </a:rPr>
              <a:t>PLAN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compiled tool sequence</a:t>
            </a:r>
          </a:p>
        </p:txBody>
      </p:sp>
      <p:sp>
        <p:nvSpPr>
          <p:cNvPr id="22" name="Predefined Process 21"/>
          <p:cNvSpPr/>
          <p:nvPr/>
        </p:nvSpPr>
        <p:spPr>
          <a:xfrm>
            <a:off x="8001000" y="1572768"/>
            <a:ext cx="1737360" cy="658368"/>
          </a:xfrm>
          <a:prstGeom prst="flowChartPredefinedProcess">
            <a:avLst/>
          </a:prstGeom>
          <a:solidFill>
            <a:srgbClr val="142A22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50" b="1">
                <a:solidFill>
                  <a:srgbClr val="ECF1F9"/>
                </a:solidFill>
                <a:latin typeface="Consolas"/>
              </a:rPr>
              <a:t>EXECUTE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app.core — 33 tools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00200" y="1901952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00400" y="1901952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00600" y="1901952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92240" y="1901952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18120" y="1901952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rminator 27"/>
          <p:cNvSpPr/>
          <p:nvPr/>
        </p:nvSpPr>
        <p:spPr>
          <a:xfrm>
            <a:off x="3246120" y="2834640"/>
            <a:ext cx="1600200" cy="548640"/>
          </a:xfrm>
          <a:prstGeom prst="flowChartTerminator">
            <a:avLst/>
          </a:prstGeom>
          <a:solidFill>
            <a:srgbClr val="282042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ECF1F9"/>
                </a:solidFill>
                <a:latin typeface="Consolas"/>
              </a:rPr>
              <a:t>ABSTAIN</a:t>
            </a:r>
          </a:p>
          <a:p>
            <a:pPr algn="ctr"/>
            <a:r>
              <a:rPr sz="750">
                <a:solidFill>
                  <a:srgbClr val="93A1B8"/>
                </a:solidFill>
                <a:latin typeface="Segoe UI"/>
              </a:rPr>
              <a:t>names what it CAN answer</a:t>
            </a:r>
          </a:p>
        </p:txBody>
      </p:sp>
      <p:sp>
        <p:nvSpPr>
          <p:cNvPr id="29" name="Terminator 28"/>
          <p:cNvSpPr/>
          <p:nvPr/>
        </p:nvSpPr>
        <p:spPr>
          <a:xfrm>
            <a:off x="5257800" y="2834640"/>
            <a:ext cx="1737360" cy="548640"/>
          </a:xfrm>
          <a:prstGeom prst="flowChartTerminator">
            <a:avLst/>
          </a:prstGeom>
          <a:solidFill>
            <a:srgbClr val="282042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ECF1F9"/>
                </a:solidFill>
                <a:latin typeface="Consolas"/>
              </a:rPr>
              <a:t>CLARIFY</a:t>
            </a:r>
          </a:p>
          <a:p>
            <a:pPr algn="ctr"/>
            <a:r>
              <a:rPr sz="750">
                <a:solidFill>
                  <a:srgbClr val="93A1B8"/>
                </a:solidFill>
                <a:latin typeface="Segoe UI"/>
              </a:rPr>
              <a:t>asks for the missing piece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046220" y="2459736"/>
            <a:ext cx="1691640" cy="374904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297680" y="2528316"/>
            <a:ext cx="1188720" cy="237744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252831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78BFA"/>
                </a:solidFill>
                <a:latin typeface="Consolas"/>
              </a:rPr>
              <a:t>out of scope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7860" y="2459736"/>
            <a:ext cx="388620" cy="374904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337810" y="2528316"/>
            <a:ext cx="1188720" cy="237744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37810" y="252831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78BFA"/>
                </a:solidFill>
                <a:latin typeface="Consolas"/>
              </a:rPr>
              <a:t>compound / missing id</a:t>
            </a:r>
          </a:p>
        </p:txBody>
      </p:sp>
      <p:sp>
        <p:nvSpPr>
          <p:cNvPr id="36" name="Process 35"/>
          <p:cNvSpPr/>
          <p:nvPr/>
        </p:nvSpPr>
        <p:spPr>
          <a:xfrm>
            <a:off x="8161020" y="4251960"/>
            <a:ext cx="1417320" cy="658368"/>
          </a:xfrm>
          <a:prstGeom prst="flowChartProcess">
            <a:avLst/>
          </a:prstGeom>
          <a:solidFill>
            <a:srgbClr val="142A22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50" b="1">
                <a:solidFill>
                  <a:srgbClr val="ECF1F9"/>
                </a:solidFill>
                <a:latin typeface="Consolas"/>
              </a:rPr>
              <a:t>COMPOSE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pure code — no model</a:t>
            </a:r>
          </a:p>
        </p:txBody>
      </p:sp>
      <p:sp>
        <p:nvSpPr>
          <p:cNvPr id="37" name="Process 36"/>
          <p:cNvSpPr/>
          <p:nvPr/>
        </p:nvSpPr>
        <p:spPr>
          <a:xfrm>
            <a:off x="6560820" y="4251960"/>
            <a:ext cx="1417320" cy="658368"/>
          </a:xfrm>
          <a:prstGeom prst="flowChartProcess">
            <a:avLst/>
          </a:prstGeom>
          <a:solidFill>
            <a:srgbClr val="0B3A42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50" b="1">
                <a:solidFill>
                  <a:srgbClr val="ECF1F9"/>
                </a:solidFill>
                <a:latin typeface="Consolas"/>
              </a:rPr>
              <a:t>NARRATE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LLM writes from facts only</a:t>
            </a:r>
          </a:p>
        </p:txBody>
      </p:sp>
      <p:sp>
        <p:nvSpPr>
          <p:cNvPr id="38" name="Decision 37"/>
          <p:cNvSpPr/>
          <p:nvPr/>
        </p:nvSpPr>
        <p:spPr>
          <a:xfrm>
            <a:off x="4869180" y="4023360"/>
            <a:ext cx="1508760" cy="1115568"/>
          </a:xfrm>
          <a:prstGeom prst="flowChartDecision">
            <a:avLst/>
          </a:prstGeom>
          <a:solidFill>
            <a:srgbClr val="1A2236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ECF1F9"/>
                </a:solidFill>
                <a:latin typeface="Consolas"/>
              </a:rPr>
              <a:t>VERIFY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grounded in
the fact ledger?</a:t>
            </a:r>
          </a:p>
        </p:txBody>
      </p:sp>
      <p:sp>
        <p:nvSpPr>
          <p:cNvPr id="39" name="Terminator 38"/>
          <p:cNvSpPr/>
          <p:nvPr/>
        </p:nvSpPr>
        <p:spPr>
          <a:xfrm>
            <a:off x="3268980" y="4251960"/>
            <a:ext cx="1417320" cy="658368"/>
          </a:xfrm>
          <a:prstGeom prst="flowChartTerminator">
            <a:avLst/>
          </a:prstGeom>
          <a:solidFill>
            <a:srgbClr val="142A22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50" b="1">
                <a:solidFill>
                  <a:srgbClr val="ECF1F9"/>
                </a:solidFill>
                <a:latin typeface="Consolas"/>
              </a:rPr>
              <a:t>ANSWER</a:t>
            </a:r>
          </a:p>
          <a:p>
            <a:pPr algn="ctr"/>
            <a:r>
              <a:rPr sz="850">
                <a:solidFill>
                  <a:srgbClr val="93A1B8"/>
                </a:solidFill>
                <a:latin typeface="Segoe UI"/>
              </a:rPr>
              <a:t>+ full trace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7978140" y="4581144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377940" y="4581144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686300" y="4581144"/>
            <a:ext cx="182880" cy="0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69680" y="2231136"/>
            <a:ext cx="0" cy="2020824"/>
          </a:xfrm>
          <a:prstGeom prst="line">
            <a:avLst/>
          </a:prstGeom>
          <a:ln w="15875">
            <a:solidFill>
              <a:srgbClr val="2A35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redefined Process 43"/>
          <p:cNvSpPr/>
          <p:nvPr/>
        </p:nvSpPr>
        <p:spPr>
          <a:xfrm>
            <a:off x="4914900" y="5532120"/>
            <a:ext cx="1417320" cy="621792"/>
          </a:xfrm>
          <a:prstGeom prst="flowChartPredefinedProcess">
            <a:avLst/>
          </a:prstGeom>
          <a:solidFill>
            <a:srgbClr val="3A300B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ECF1F9"/>
                </a:solidFill>
                <a:latin typeface="Consolas"/>
              </a:rPr>
              <a:t>REPAIR</a:t>
            </a:r>
          </a:p>
          <a:p>
            <a:pPr algn="ctr"/>
            <a:r>
              <a:rPr sz="750">
                <a:solidFill>
                  <a:srgbClr val="93A1B8"/>
                </a:solidFill>
                <a:latin typeface="Segoe UI"/>
              </a:rPr>
              <a:t>one retry, violation named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23560" y="5138928"/>
            <a:ext cx="0" cy="393192"/>
          </a:xfrm>
          <a:prstGeom prst="line">
            <a:avLst/>
          </a:prstGeom>
          <a:ln w="15875">
            <a:solidFill>
              <a:srgbClr val="FBBF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029200" y="5216652"/>
            <a:ext cx="1188720" cy="237744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521665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BBF24"/>
                </a:solidFill>
                <a:latin typeface="Consolas"/>
              </a:rPr>
              <a:t>fails once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5623560" y="4910328"/>
            <a:ext cx="1645920" cy="621792"/>
          </a:xfrm>
          <a:prstGeom prst="line">
            <a:avLst/>
          </a:prstGeom>
          <a:ln w="15875">
            <a:solidFill>
              <a:srgbClr val="FBBF2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852160" y="5102352"/>
            <a:ext cx="1188720" cy="237744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52160" y="5102352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BBF24"/>
                </a:solidFill>
                <a:latin typeface="Consolas"/>
              </a:rPr>
              <a:t>retry</a:t>
            </a:r>
          </a:p>
        </p:txBody>
      </p:sp>
      <p:sp>
        <p:nvSpPr>
          <p:cNvPr id="51" name="Process 50"/>
          <p:cNvSpPr/>
          <p:nvPr/>
        </p:nvSpPr>
        <p:spPr>
          <a:xfrm>
            <a:off x="3177540" y="5532120"/>
            <a:ext cx="1554480" cy="621792"/>
          </a:xfrm>
          <a:prstGeom prst="flowChartProcess">
            <a:avLst/>
          </a:prstGeom>
          <a:solidFill>
            <a:srgbClr val="3A1414"/>
          </a:solidFill>
          <a:ln w="1778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ECF1F9"/>
                </a:solidFill>
                <a:latin typeface="Consolas"/>
              </a:rPr>
              <a:t>DOWNGRADE</a:t>
            </a:r>
          </a:p>
          <a:p>
            <a:pPr algn="ctr"/>
            <a:r>
              <a:rPr sz="750">
                <a:solidFill>
                  <a:srgbClr val="93A1B8"/>
                </a:solidFill>
                <a:latin typeface="Segoe UI"/>
              </a:rPr>
              <a:t>engine's own figures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4732020" y="5843016"/>
            <a:ext cx="182880" cy="0"/>
          </a:xfrm>
          <a:prstGeom prst="line">
            <a:avLst/>
          </a:prstGeom>
          <a:ln w="15875">
            <a:solidFill>
              <a:srgbClr val="F8717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229100" y="5724144"/>
            <a:ext cx="1188720" cy="237744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29100" y="572414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87171"/>
                </a:solidFill>
                <a:latin typeface="Consolas"/>
              </a:rPr>
              <a:t>fails again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3954780" y="4910328"/>
            <a:ext cx="22860" cy="621792"/>
          </a:xfrm>
          <a:prstGeom prst="line">
            <a:avLst/>
          </a:prstGeom>
          <a:ln w="15875">
            <a:solidFill>
              <a:srgbClr val="F8717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" y="633679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F6D87"/>
                </a:solidFill>
                <a:latin typeface="Segoe UI"/>
              </a:rPr>
              <a:t>Every node above is a Python function in app/agent/graph.py — the graph is fixed; only EXECUTE's tool choice changes with the question's tier.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AECF-5F0B-BB8D-82D3-546D9DBCD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718760-3392-B70A-DC89-0CEC840FBE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369B5E-1B5B-9F98-1699-A5D9ABD2440F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F12BE-8EFA-8799-6737-7C8C613E8090}"/>
              </a:ext>
            </a:extLst>
          </p:cNvPr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3E5B8-2C0B-637E-350C-6F34A370D172}"/>
              </a:ext>
            </a:extLst>
          </p:cNvPr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9FFD6F-648C-0824-6621-82EC9F171F47}"/>
              </a:ext>
            </a:extLst>
          </p:cNvPr>
          <p:cNvSpPr txBox="1"/>
          <p:nvPr/>
        </p:nvSpPr>
        <p:spPr>
          <a:xfrm>
            <a:off x="457200" y="633679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F6D87"/>
                </a:solidFill>
                <a:latin typeface="Segoe UI"/>
              </a:rPr>
              <a:t>Every node above is a Python function in app/agent/graph.py — the graph is fixed; only EXECUTE's tool choice changes with the question's tier.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77A631-1420-E4C5-D94E-F5985374261E}"/>
              </a:ext>
            </a:extLst>
          </p:cNvPr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F0E60A-6BDC-D492-C249-8789DD1B984A}"/>
              </a:ext>
            </a:extLst>
          </p:cNvPr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2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26DABF8-2367-8C9A-ED77-6048985D9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04" y="1200912"/>
            <a:ext cx="9919410" cy="479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9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REASONING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CF1F9"/>
                </a:solidFill>
                <a:latin typeface="Segoe UI"/>
              </a:rPr>
              <a:t>Tier 2 vs Tier 3 — same engine, a bigger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121827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7190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0A0E17"/>
                </a:solidFill>
                <a:latin typeface="Consolas"/>
              </a:rPr>
              <a:t>TIER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696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F1F9"/>
                </a:solidFill>
                <a:latin typeface="Segoe UI"/>
              </a:rPr>
              <a:t>Consequence — what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F6D87"/>
                </a:solidFill>
                <a:latin typeface="Consolas"/>
              </a:rPr>
              <a:t>TOOLS CALLED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2"/>
            <a:ext cx="4800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2D3EE"/>
                </a:solidFill>
                <a:latin typeface="Consolas"/>
              </a:rPr>
              <a:t>simulate_crew_unavailable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2D3EE"/>
                </a:solidFill>
                <a:latin typeface="Consolas"/>
              </a:rPr>
              <a:t>simulate_station_closure · simulate_delay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2D3EE"/>
                </a:solidFill>
                <a:latin typeface="Consolas"/>
              </a:rPr>
              <a:t>check_legality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F6D87"/>
                </a:solidFill>
                <a:latin typeface="Consolas"/>
              </a:rP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32504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Fork the world once, ask a single question: what does this event break, right now and downstream? No ranking, no cost — just the honest blast radius of one disruption.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74920"/>
            <a:ext cx="4800600" cy="548640"/>
          </a:xfrm>
          <a:prstGeom prst="roundRect">
            <a:avLst>
              <a:gd name="adj" fmla="val 15000"/>
            </a:avLst>
          </a:prstGeom>
          <a:solidFill>
            <a:srgbClr val="1A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ECF1F9"/>
                </a:solidFill>
                <a:latin typeface="Segoe UI"/>
              </a:rPr>
              <a:t>“Captain sick — which flights are uncrewed today, and which duty breaks REST-04 tomorrow?”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121827"/>
          </a:solidFill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17190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0A0E17"/>
                </a:solidFill>
                <a:latin typeface="Consolas"/>
              </a:rPr>
              <a:t>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39696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F1F9"/>
                </a:solidFill>
                <a:latin typeface="Segoe UI"/>
              </a:rPr>
              <a:t>Recommendation — what to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7004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F6D87"/>
                </a:solidFill>
                <a:latin typeface="Consolas"/>
              </a:rPr>
              <a:t>TOOLS CALLED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07792"/>
            <a:ext cx="4800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4D399"/>
                </a:solidFill>
                <a:latin typeface="Consolas"/>
              </a:rPr>
              <a:t>enumerate_cover_candidates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4D399"/>
                </a:solidFill>
                <a:latin typeface="Consolas"/>
              </a:rPr>
              <a:t>resolve_disruption · solve_joint_assignment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F6D87"/>
                </a:solidFill>
                <a:latin typeface="Consolas"/>
              </a:rP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32504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Take Tier 2's opening and run every active crew member of the right rank through the full seven-rule engine — not just reserves. Then cost and rank whatever survives.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074920"/>
            <a:ext cx="4800600" cy="548640"/>
          </a:xfrm>
          <a:prstGeom prst="roundRect">
            <a:avLst>
              <a:gd name="adj" fmla="val 15000"/>
            </a:avLst>
          </a:prstGeom>
          <a:solidFill>
            <a:srgbClr val="1A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50749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ECF1F9"/>
                </a:solidFill>
                <a:latin typeface="Segoe UI"/>
              </a:rPr>
              <a:t>“...so who should cover it, legally, cheapest first — and why not the other 19?”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436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8B9CC4"/>
                </a:solidFill>
                <a:latin typeface="Segoe UI"/>
              </a:rPr>
              <a:t>Same seven-rule engine both times. Tier 3 doesn't reason differently — it just asks the Tier 2 question of every legal candidate, then prices and ranks the answers.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CF1F9"/>
                </a:solidFill>
                <a:latin typeface="Segoe UI"/>
              </a:rPr>
              <a:t>A sick call, traced — who does what,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55680" cy="475488"/>
          </a:xfrm>
          <a:prstGeom prst="roundRect">
            <a:avLst>
              <a:gd name="adj" fmla="val 25000"/>
            </a:avLst>
          </a:prstGeom>
          <a:solidFill>
            <a:srgbClr val="12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ECF1F9"/>
                </a:solidFill>
                <a:latin typeface="Segoe UI"/>
              </a:rPr>
              <a:t>“Captain C-1042 calls in sick for pairing P-2291 on 15 Sep.”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4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22D3EE"/>
                </a:solidFill>
                <a:latin typeface="Consolas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93392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CLASSIFY   </a:t>
            </a:r>
            <a:r>
              <a:rPr sz="1050" b="0">
                <a:solidFill>
                  <a:srgbClr val="93A1B8"/>
                </a:solidFill>
                <a:latin typeface="Segoe UI"/>
              </a:rPr>
              <a:t>Proposes intent SICK_IMPACT · tier 2 · confidence 0.93.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00884"/>
            <a:ext cx="63550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583180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A78BFA"/>
                </a:solidFill>
                <a:latin typeface="Consolas"/>
              </a:rPr>
              <a:t>LLM→CODE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55748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RESOLVE   </a:t>
            </a:r>
            <a:r>
              <a:rPr sz="1050" b="0">
                <a:solidFill>
                  <a:srgbClr val="93A1B8"/>
                </a:solidFill>
                <a:latin typeface="Segoe UI"/>
              </a:rPr>
              <a:t>“C-1042” and “P-2291” are proposed, then checked against the dataset — both exist → accepted.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63550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3145536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18104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EXECUTE   </a:t>
            </a:r>
            <a:r>
              <a:rPr sz="1050" b="0">
                <a:solidFill>
                  <a:srgbClr val="93A1B8"/>
                </a:solidFill>
                <a:latin typeface="Segoe UI"/>
              </a:rPr>
              <a:t>simulate_crew_unavailable forks the world: DX412, DX413, DX588 uncrewed · 486 passengers · C-2087 would breach RULE-DUTY-02 by 1h20m.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25596"/>
            <a:ext cx="63550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707892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80460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COMPOSE   </a:t>
            </a:r>
            <a:r>
              <a:rPr sz="1050" b="0">
                <a:solidFill>
                  <a:srgbClr val="93A1B8"/>
                </a:solidFill>
                <a:latin typeface="Segoe UI"/>
              </a:rPr>
              <a:t>Assembles the structured impact payload straight from those tool outputs. No model involved.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87952"/>
            <a:ext cx="63550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4270248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22D3EE"/>
                </a:solidFill>
                <a:latin typeface="Consolas"/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42816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NARRATE   </a:t>
            </a:r>
            <a:r>
              <a:rPr sz="1050" b="0">
                <a:solidFill>
                  <a:srgbClr val="93A1B8"/>
                </a:solidFill>
                <a:latin typeface="Segoe UI"/>
              </a:rPr>
              <a:t>Drafts the sentence a controller reads — built only from the facts COMPOSE just produced.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50308"/>
            <a:ext cx="63550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4832604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5172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VERIFY   </a:t>
            </a:r>
            <a:r>
              <a:rPr sz="1050" b="0">
                <a:solidFill>
                  <a:srgbClr val="93A1B8"/>
                </a:solidFill>
                <a:latin typeface="Segoe UI"/>
              </a:rPr>
              <a:t>DX412, DX413, DX588, 486, C-2087 and RULE-DUTY-02 in the draft are each checked against the fact ledger — all grounded → passed.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12664"/>
            <a:ext cx="6355080" cy="9525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5394960"/>
            <a:ext cx="868680" cy="36576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8B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50" b="1">
                <a:solidFill>
                  <a:srgbClr val="8B9CC4"/>
                </a:solidFill>
                <a:latin typeface="Consolas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367528"/>
            <a:ext cx="5349240" cy="562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F1F9"/>
                </a:solidFill>
                <a:latin typeface="Consolas"/>
              </a:rPr>
              <a:t>ANSWER   </a:t>
            </a:r>
            <a:r>
              <a:rPr sz="1050" b="0">
                <a:solidFill>
                  <a:srgbClr val="93A1B8"/>
                </a:solidFill>
                <a:latin typeface="Segoe UI"/>
              </a:rPr>
              <a:t>Delivered with the full trace attached — replayable end to end.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73900" y="1404620"/>
            <a:ext cx="4917440" cy="1623119"/>
          </a:xfrm>
          <a:prstGeom prst="rect">
            <a:avLst/>
          </a:prstGeom>
          <a:solidFill>
            <a:srgbClr val="121827"/>
          </a:solidFill>
          <a:ln w="12700">
            <a:solidFill>
              <a:srgbClr val="2A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disruption_impac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417320"/>
            <a:ext cx="4892040" cy="159771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86600" y="3106479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F6D87"/>
                </a:solidFill>
                <a:latin typeface="Segoe UI"/>
              </a:rPr>
              <a:t>Live capture — the impact panel, same shape as this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517959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CF1F9"/>
                </a:solidFill>
                <a:latin typeface="Consolas"/>
              </a:rPr>
              <a:t>THE NARRATED ANSWER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3810567"/>
            <a:ext cx="4892040" cy="1417320"/>
          </a:xfrm>
          <a:prstGeom prst="roundRect">
            <a:avLst>
              <a:gd name="adj" fmla="val 8000"/>
            </a:avLst>
          </a:prstGeom>
          <a:solidFill>
            <a:srgbClr val="121827"/>
          </a:solidFill>
          <a:ln w="12700">
            <a:solidFill>
              <a:srgbClr val="2A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3938583"/>
            <a:ext cx="448970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ECF1F9"/>
                </a:solidFill>
                <a:latin typeface="Segoe UI"/>
              </a:rPr>
              <a:t>“C-1042's sick call leaves DX412, DX413 and DX588 uncrewed, affecting 486 passengers. C-2087 is the nearest substitute but would breach RULE-DUTY-02 by 1h20m.”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4935279"/>
            <a:ext cx="4489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4D399"/>
                </a:solidFill>
                <a:latin typeface="Consolas"/>
              </a:rPr>
              <a:t>every id and number above — verified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EVERY ACTION, MADE CONCRETE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CF1F9"/>
                </a:solidFill>
                <a:latin typeface="Segoe UI"/>
              </a:rPr>
              <a:t>“Assign C-3310” isn't the answer — their new week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2A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41605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1B8"/>
                </a:solidFill>
                <a:latin typeface="Segoe UI"/>
              </a:rPr>
              <a:t>Every ranked option carries the candidate's own 7-day schedule — before and after — built from the same timeline the legality engine itself judged. Not a description of the change: the change.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58444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520440"/>
            <a:ext cx="39776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F1F9"/>
                </a:solidFill>
                <a:latin typeface="Segoe UI"/>
              </a:rPr>
              <a:t>A visible safe / conflict badge  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1B8"/>
                </a:solidFill>
                <a:latin typeface="Segoe UI"/>
              </a:rPr>
              <a:t>so a controller isn't left to re-derive it from four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43616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4297680"/>
            <a:ext cx="39776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F1F9"/>
                </a:solidFill>
                <a:latin typeface="Segoe UI"/>
              </a:rPr>
              <a:t>The same picture for rejections  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1B8"/>
                </a:solidFill>
                <a:latin typeface="Segoe UI"/>
              </a:rPr>
              <a:t>why 19 of 24 candidates were excluded — the rule and the arithmetic, not prose.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513892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074920"/>
            <a:ext cx="39776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F1F9"/>
                </a:solidFill>
                <a:latin typeface="Segoe UI"/>
              </a:rPr>
              <a:t>No LLM in this computation  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1B8"/>
                </a:solidFill>
                <a:latin typeface="Segoe UI"/>
              </a:rPr>
              <a:t>the schedule, the cost and the rule verdicts are app.core output; the model only narrates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9340" y="1496060"/>
            <a:ext cx="6929120" cy="2293765"/>
          </a:xfrm>
          <a:prstGeom prst="rect">
            <a:avLst/>
          </a:prstGeom>
          <a:solidFill>
            <a:srgbClr val="121827"/>
          </a:solidFill>
          <a:ln w="12700">
            <a:solidFill>
              <a:srgbClr val="2A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dvisor_action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6903720" cy="22683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92040" y="3914285"/>
            <a:ext cx="6903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F6D87"/>
                </a:solidFill>
                <a:latin typeface="Segoe UI"/>
              </a:rPr>
              <a:t>Live capture — top-ranked option, cost breakdown, rule evaluation and the 7-day schedule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Crew Ops Advisor · dCortex Air, hub BLR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D8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1068</Words>
  <Application>Microsoft Office PowerPoint</Application>
  <PresentationFormat>Widescreen</PresentationFormat>
  <Paragraphs>128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Zubin Shah</cp:lastModifiedBy>
  <cp:revision>3</cp:revision>
  <dcterms:created xsi:type="dcterms:W3CDTF">2013-01-27T09:14:16Z</dcterms:created>
  <dcterms:modified xsi:type="dcterms:W3CDTF">2026-09-05T12:17:14Z</dcterms:modified>
  <cp:category/>
</cp:coreProperties>
</file>